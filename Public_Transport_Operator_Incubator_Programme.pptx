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3C64"/>
            </a:gs>
            <a:gs pos="100000">
              <a:srgbClr val="29629B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Public Transport Operator</a:t>
            </a:r>
            <a:br/>
            <a:r>
              <a:t>Incubator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96C8"/>
                </a:solidFill>
              </a:defRPr>
            </a:pPr>
            <a:r>
              <a:t>Structured Support &amp; Capacity Building</a:t>
            </a:r>
            <a:br/>
            <a:r>
              <a:t>for Public Transport Operators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486400"/>
            <a:ext cx="73152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486400"/>
            <a:ext cx="73152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5486400"/>
            <a:ext cx="73152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5486400"/>
            <a:ext cx="73152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9629B"/>
                </a:solidFill>
              </a:defRPr>
            </a:pPr>
            <a:r>
              <a:t>1. About the Incubator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7680960" cy="914400"/>
          </a:xfrm>
          <a:prstGeom prst="roundRect">
            <a:avLst/>
          </a:prstGeom>
          <a:solidFill>
            <a:srgbClr val="6496C8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93C64"/>
                </a:solidFill>
              </a:defRPr>
            </a:pPr>
            <a:r>
              <a:t>PURPOSE: A dedicated programme that matures public transport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STAGES: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34640"/>
            <a:ext cx="3657600" cy="64008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834640"/>
            <a:ext cx="3657600" cy="64008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Capacity Building (Incubation)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INPUTS GUIDING THE INCUBATOR: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2377440" cy="73152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Policy &amp; Legislation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480560"/>
            <a:ext cx="2377440" cy="73152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Status Quo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2377440" cy="73152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Best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9629B"/>
                </a:solidFill>
              </a:defRPr>
            </a:pPr>
            <a:r>
              <a:t>2. The Incubation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1828800" cy="109728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Problem</a:t>
            </a:r>
            <a:br/>
            <a:r>
              <a:t>Definition</a:t>
            </a:r>
            <a:br/>
            <a:br/>
            <a:r>
              <a:t>Identify gaps</a:t>
            </a:r>
            <a:br/>
            <a:r>
              <a:t>&amp; needs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23160" y="2194560"/>
            <a:ext cx="457200" cy="365760"/>
          </a:xfrm>
          <a:prstGeom prst="rightArrow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1760" y="1828800"/>
            <a:ext cx="1828800" cy="109728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Capacity</a:t>
            </a:r>
            <a:br/>
            <a:r>
              <a:t>Building</a:t>
            </a:r>
            <a:br/>
            <a:br/>
            <a:r>
              <a:t>Incubation</a:t>
            </a:r>
            <a:br/>
            <a:r>
              <a:t>phase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26280" y="2194560"/>
            <a:ext cx="457200" cy="365760"/>
          </a:xfrm>
          <a:prstGeom prst="rightArrow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79" y="1828800"/>
            <a:ext cx="1828800" cy="109728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Tailored</a:t>
            </a:r>
            <a:br/>
            <a:r>
              <a:t>Support</a:t>
            </a:r>
            <a:br/>
            <a:br/>
            <a:r>
              <a:t>Training &amp;</a:t>
            </a:r>
            <a:br/>
            <a:r>
              <a:t>mentorship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29399" y="2194560"/>
            <a:ext cx="457200" cy="365760"/>
          </a:xfrm>
          <a:prstGeom prst="rightArrow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7999" y="1828800"/>
            <a:ext cx="1828800" cy="109728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Graduation</a:t>
            </a:r>
            <a:br/>
            <a:br/>
            <a:r>
              <a:t>Meet targets</a:t>
            </a:r>
            <a:br/>
            <a:r>
              <a:t>&amp; 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PROGRAMME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828800" cy="7315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Entry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4434840"/>
            <a:ext cx="365760" cy="274320"/>
          </a:xfrm>
          <a:prstGeom prst="rightArrow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39" y="4206240"/>
            <a:ext cx="1828800" cy="7315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Incubation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09159" y="4434840"/>
            <a:ext cx="365760" cy="274320"/>
          </a:xfrm>
          <a:prstGeom prst="rightArrow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59" y="4206240"/>
            <a:ext cx="1828800" cy="7315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Graduation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12279" y="4434840"/>
            <a:ext cx="365760" cy="274320"/>
          </a:xfrm>
          <a:prstGeom prst="rightArrow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79" y="4206240"/>
            <a:ext cx="1828800" cy="7315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Continuous</a:t>
            </a:r>
            <a:br/>
            <a: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9629B"/>
                </a:solidFill>
              </a:defRPr>
            </a:pPr>
            <a:r>
              <a:t>A structured pathway from identification to sustainable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9629B"/>
                </a:solidFill>
              </a:defRPr>
            </a:pPr>
            <a:r>
              <a:t>3. Support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463040" cy="274320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Workshops &amp;</a:t>
            </a:r>
            <a:br/>
            <a:r>
              <a:t>classroom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828800"/>
            <a:ext cx="1463040" cy="27432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148840" y="20116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43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Advisory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2918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Expert support &amp;</a:t>
            </a:r>
            <a:br/>
            <a:r>
              <a:t>peer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828800"/>
            <a:ext cx="1463040" cy="274320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749040" y="20116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743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918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Technology hubs,</a:t>
            </a:r>
            <a:br/>
            <a:r>
              <a:t>tools &amp;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1828800"/>
            <a:ext cx="1463040" cy="27432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349240" y="20116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43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2918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Governance &amp;</a:t>
            </a:r>
            <a:br/>
            <a:r>
              <a:t>contract mgmt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828800"/>
            <a:ext cx="1463040" cy="2743200"/>
          </a:xfrm>
          <a:prstGeom prst="roundRect">
            <a:avLst/>
          </a:prstGeom>
          <a:solidFill>
            <a:srgbClr val="29629B"/>
          </a:solidFill>
          <a:ln>
            <a:solidFill>
              <a:srgbClr val="29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949440" y="20116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2918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Funding partners &amp;</a:t>
            </a:r>
            <a:br/>
            <a:r>
              <a:t>access to funders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Comprehensive support across all operational dimensions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CAF50"/>
                </a:solidFill>
              </a:defRPr>
            </a:pPr>
            <a:r>
              <a:t>4. Targeted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9144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087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Financially Resilient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Sustainable revenue &amp; cost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7315200" cy="9144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603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Strong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260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Effective leadership &amp; accountability structures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7315200" cy="9144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11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Improved Service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776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Reliable, safe, and customer-focused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7315200" cy="9144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188720" y="4754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6634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Competitive Bidding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92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Meet tender requirements &amp; win contracts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77840"/>
            <a:ext cx="7315200" cy="9144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188720" y="5806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7150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Long-term Sector 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60807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Sustainable growth &amp; industry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Building a sustainable and professional public transport sector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